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8"/>
  </p:notesMasterIdLst>
  <p:handoutMasterIdLst>
    <p:handoutMasterId r:id="rId39"/>
  </p:handoutMasterIdLst>
  <p:sldIdLst>
    <p:sldId id="362" r:id="rId3"/>
    <p:sldId id="345" r:id="rId4"/>
    <p:sldId id="322" r:id="rId5"/>
    <p:sldId id="364" r:id="rId6"/>
    <p:sldId id="361" r:id="rId7"/>
    <p:sldId id="281" r:id="rId8"/>
    <p:sldId id="273" r:id="rId9"/>
    <p:sldId id="263" r:id="rId10"/>
    <p:sldId id="264" r:id="rId11"/>
    <p:sldId id="265" r:id="rId12"/>
    <p:sldId id="346" r:id="rId13"/>
    <p:sldId id="347" r:id="rId14"/>
    <p:sldId id="349" r:id="rId15"/>
    <p:sldId id="350" r:id="rId16"/>
    <p:sldId id="352" r:id="rId17"/>
    <p:sldId id="353" r:id="rId18"/>
    <p:sldId id="355" r:id="rId19"/>
    <p:sldId id="356" r:id="rId20"/>
    <p:sldId id="293" r:id="rId21"/>
    <p:sldId id="294" r:id="rId22"/>
    <p:sldId id="296" r:id="rId23"/>
    <p:sldId id="297" r:id="rId24"/>
    <p:sldId id="298" r:id="rId25"/>
    <p:sldId id="308" r:id="rId26"/>
    <p:sldId id="365" r:id="rId27"/>
    <p:sldId id="299" r:id="rId28"/>
    <p:sldId id="280" r:id="rId29"/>
    <p:sldId id="333" r:id="rId30"/>
    <p:sldId id="358" r:id="rId31"/>
    <p:sldId id="334" r:id="rId32"/>
    <p:sldId id="338" r:id="rId33"/>
    <p:sldId id="339" r:id="rId34"/>
    <p:sldId id="267" r:id="rId35"/>
    <p:sldId id="360" r:id="rId36"/>
    <p:sldId id="33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5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7BCA-3E43-EE48-A95F-308EA7384F7F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3BF7B-3DDB-B045-810D-B1860EAFD474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B82A-AE17-1449-8CCD-E58AC0FFFC44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DF763-FFC6-8D48-816D-DA846967261A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5DF0-D73A-0044-8B51-E2E361DA9F43}" type="datetime1">
              <a:rPr lang="en-IN" smtClean="0"/>
              <a:t>10-09-2025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DE6D-68E0-4646-A0A0-B0ECF8DC361C}" type="datetime1">
              <a:rPr lang="en-IN" smtClean="0"/>
              <a:t>10-09-2025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421D5-F466-6D40-BF7B-BC579AFF7E5A}" type="datetime1">
              <a:rPr lang="en-IN" smtClean="0"/>
              <a:t>10-09-2025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F95B-040F-9A4E-BB53-53AB46794687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D3B4-CACE-B642-B05F-10A3014909A6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35C2B-09A4-B144-B2A1-6BE1F2E11C28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F11-8DD0-3444-9AD1-183C22B0CCDE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4403-D3EB-674F-8AC3-D73003C5945B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DACB-C39B-0449-A1E5-DA5540807A67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5716-0C2A-5748-A5A4-71D041E8E37A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310D-68AA-574A-B14B-BF6D1F4FA8C0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3159-E47E-A347-9A62-673A7567A9B8}" type="datetime1">
              <a:rPr lang="en-IN" smtClean="0"/>
              <a:t>10-09-2025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C1B71-2F0C-074A-98B5-E574C60FA8FD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8B6B6-CBDC-8E41-B5E9-1C55B3D9D152}" type="datetime1">
              <a:rPr lang="en-IN" smtClean="0"/>
              <a:t>10-09-2025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8th REVIEW EXTENDED SEMESTER  173030211   Depart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ntt.com/" TargetMode="External"/><Relationship Id="rId2" Type="http://schemas.openxmlformats.org/officeDocument/2006/relationships/hyperlink" Target="https://www.onlinegantt.com/#/gantt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515600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cs typeface="Arial" panose="020B0604020202020204" pitchFamily="34" charset="0"/>
              </a:rPr>
              <a:t>8</a:t>
            </a:r>
            <a:r>
              <a:rPr lang="en-US" sz="2400" b="1" baseline="30000" dirty="0">
                <a:cs typeface="Arial" panose="020B0604020202020204" pitchFamily="34" charset="0"/>
              </a:rPr>
              <a:t>th</a:t>
            </a:r>
            <a:r>
              <a:rPr lang="en-US" sz="2400" b="1" dirty="0">
                <a:cs typeface="Arial" panose="020B0604020202020204" pitchFamily="34" charset="0"/>
              </a:rPr>
              <a:t> REVIEW FOR EXTENDED SEMESTER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Design and modelling of different applications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1418" y="1737503"/>
            <a:ext cx="10515600" cy="109755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/>
              <a:t>2410030313 - </a:t>
            </a:r>
            <a:r>
              <a:rPr lang="en-US" sz="2400" dirty="0" err="1"/>
              <a:t>P.Bharath</a:t>
            </a: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400" dirty="0"/>
              <a:t>2410030419 - </a:t>
            </a:r>
            <a:r>
              <a:rPr lang="en-US" sz="2400" dirty="0" err="1"/>
              <a:t>S.Thanveesh</a:t>
            </a: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400" dirty="0"/>
              <a:t>2410030462 – </a:t>
            </a:r>
            <a:r>
              <a:rPr lang="en-US" sz="2400" dirty="0" err="1"/>
              <a:t>T.Nishanth</a:t>
            </a:r>
            <a:r>
              <a:rPr lang="en-US" sz="2400" dirty="0"/>
              <a:t> </a:t>
            </a: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EE84-A896-6C4C-8D0A-0AEFA02840FA}" type="datetime1">
              <a:rPr lang="en-IN" smtClean="0"/>
              <a:t>10-09-2025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N. Rama Rao Professor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8th REVIEW EXTENDED SEMESTER  173030211   Depart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027" y="4832067"/>
            <a:ext cx="2437067" cy="115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96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834"/>
            <a:ext cx="10515600" cy="500051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Compliance of Departmental Review Recommendations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Introduction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Research Gaps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Hypothesis / Research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Objective-1, Methodology,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Objective-2, Methodology, Results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Objective-3, Methodology,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Objective-4, Methodology,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&amp; Future Scope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2F55-87A2-E141-9578-CE9D6EBE91C1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3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834"/>
            <a:ext cx="10515600" cy="5000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13. No of  Publications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Under Review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Published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To be Communicated</a:t>
            </a:r>
          </a:p>
          <a:p>
            <a:pPr marL="0" indent="0">
              <a:buNone/>
            </a:pPr>
            <a:r>
              <a:rPr lang="en-IN" dirty="0"/>
              <a:t>14. No of Conference Attended / Papers Published</a:t>
            </a:r>
          </a:p>
          <a:p>
            <a:pPr marL="0" indent="0">
              <a:buNone/>
            </a:pPr>
            <a:r>
              <a:rPr lang="en-IN" dirty="0"/>
              <a:t>15. Awards if any Best Paper / Poster</a:t>
            </a:r>
          </a:p>
          <a:p>
            <a:pPr marL="0" indent="0">
              <a:buNone/>
            </a:pPr>
            <a:r>
              <a:rPr lang="en-IN" dirty="0"/>
              <a:t>16. Extension request if any (1/2 semesters after semester-8)</a:t>
            </a:r>
          </a:p>
          <a:p>
            <a:pPr marL="0" indent="0">
              <a:buNone/>
            </a:pPr>
            <a:r>
              <a:rPr lang="en-IN" dirty="0"/>
              <a:t>17. Proposed Activity for Next Year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82028-D621-B54F-B42F-6FD67067C987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65125"/>
            <a:ext cx="10680218" cy="1128009"/>
          </a:xfrm>
        </p:spPr>
        <p:txBody>
          <a:bodyPr>
            <a:normAutofit/>
          </a:bodyPr>
          <a:lstStyle/>
          <a:p>
            <a:r>
              <a:rPr lang="en-IN" sz="3200" b="1" dirty="0"/>
              <a:t>COMPLIANCE OF DEPARTMENTAL REVIEW RECOMMENDATIONS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1911291-774F-6FD8-420F-D920E2290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81923"/>
              </p:ext>
            </p:extLst>
          </p:nvPr>
        </p:nvGraphicFramePr>
        <p:xfrm>
          <a:off x="495782" y="1493134"/>
          <a:ext cx="11200434" cy="419474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80321">
                  <a:extLst>
                    <a:ext uri="{9D8B030D-6E8A-4147-A177-3AD203B41FA5}">
                      <a16:colId xmlns:a16="http://schemas.microsoft.com/office/drawing/2014/main" val="1288169602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2725109802"/>
                    </a:ext>
                  </a:extLst>
                </a:gridCol>
                <a:gridCol w="4428308">
                  <a:extLst>
                    <a:ext uri="{9D8B030D-6E8A-4147-A177-3AD203B41FA5}">
                      <a16:colId xmlns:a16="http://schemas.microsoft.com/office/drawing/2014/main" val="1195749787"/>
                    </a:ext>
                  </a:extLst>
                </a:gridCol>
                <a:gridCol w="4407142">
                  <a:extLst>
                    <a:ext uri="{9D8B030D-6E8A-4147-A177-3AD203B41FA5}">
                      <a16:colId xmlns:a16="http://schemas.microsoft.com/office/drawing/2014/main" val="2792964710"/>
                    </a:ext>
                  </a:extLst>
                </a:gridCol>
              </a:tblGrid>
              <a:tr h="4759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Review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Recommendations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Compliance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509558"/>
                  </a:ext>
                </a:extLst>
              </a:tr>
              <a:tr h="9296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Attended / Not Attended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013172"/>
                  </a:ext>
                </a:extLst>
              </a:tr>
              <a:tr h="9296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044584"/>
                  </a:ext>
                </a:extLst>
              </a:tr>
              <a:tr h="9296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48016"/>
                  </a:ext>
                </a:extLst>
              </a:tr>
              <a:tr h="9296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792182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6341-208F-A548-A9B5-662DE486450D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30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668482" cy="1128009"/>
          </a:xfrm>
        </p:spPr>
        <p:txBody>
          <a:bodyPr>
            <a:normAutofit/>
          </a:bodyPr>
          <a:lstStyle/>
          <a:p>
            <a:r>
              <a:rPr lang="en-IN" sz="3200" b="1" dirty="0"/>
              <a:t>COMPLIANCE OF DEPARTMENTAL REVIEW RECOMMENDATIONS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3042-8120-1C4D-ABDC-837C48525123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87122-68D0-4567-5625-98F9F98BF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Helvetica Neue" panose="02000503000000020004" pitchFamily="2" charset="0"/>
              </a:rPr>
              <a:t>Insert scanned or photos or screen shots of Reviews:1 to 7 and review recommendations. </a:t>
            </a:r>
          </a:p>
          <a:p>
            <a:r>
              <a:rPr lang="en-IN" dirty="0">
                <a:solidFill>
                  <a:srgbClr val="000000"/>
                </a:solidFill>
                <a:latin typeface="Helvetica Neue" panose="02000503000000020004" pitchFamily="2" charset="0"/>
              </a:rPr>
              <a:t>Each slide 4 to 7 images can be inserted.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74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Context:</a:t>
            </a:r>
            <a:r>
              <a:rPr lang="en-US" dirty="0"/>
              <a:t> The translation of real-world requirements into a functional and efficient database is a foundational challenge in software and data engineering.</a:t>
            </a:r>
          </a:p>
          <a:p>
            <a:pPr fontAlgn="base"/>
            <a:r>
              <a:rPr lang="en-US" b="1" dirty="0"/>
              <a:t>Problem:</a:t>
            </a:r>
            <a:r>
              <a:rPr lang="en-US" dirty="0"/>
              <a:t> There is often a significant disconnect between high-level conceptual data models, like Entity-Relationship (ER) diagrams, and their final, low-level implementation in a relational database system.</a:t>
            </a:r>
          </a:p>
          <a:p>
            <a:pPr fontAlgn="base"/>
            <a:r>
              <a:rPr lang="en-US" b="1" dirty="0"/>
              <a:t>Proposed Work:</a:t>
            </a:r>
            <a:r>
              <a:rPr lang="en-US" dirty="0"/>
              <a:t> This research defines and demonstrates a systematic, step-by-step methodology for this translation process.</a:t>
            </a:r>
          </a:p>
          <a:p>
            <a:r>
              <a:rPr lang="en-US" b="1" dirty="0"/>
              <a:t>Methodology:</a:t>
            </a:r>
            <a:r>
              <a:rPr lang="en-US" dirty="0"/>
              <a:t> The work covers the entire workflow: from conceptual ER design, translation to a relational schema, implementation using DDL, data manipulation with DML, advanced querying with joins, and procedural logic with PL/SQL.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AC05A-6570-3D4D-906F-A7DDA47E2C25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4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C89E-6B74-4B49-90BF-8BAA2E6EF8A7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13835"/>
              </p:ext>
            </p:extLst>
          </p:nvPr>
        </p:nvGraphicFramePr>
        <p:xfrm>
          <a:off x="685800" y="1520122"/>
          <a:ext cx="10820400" cy="493835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09755">
                  <a:extLst>
                    <a:ext uri="{9D8B030D-6E8A-4147-A177-3AD203B41FA5}">
                      <a16:colId xmlns:a16="http://schemas.microsoft.com/office/drawing/2014/main" val="166576671"/>
                    </a:ext>
                  </a:extLst>
                </a:gridCol>
                <a:gridCol w="1690777">
                  <a:extLst>
                    <a:ext uri="{9D8B030D-6E8A-4147-A177-3AD203B41FA5}">
                      <a16:colId xmlns:a16="http://schemas.microsoft.com/office/drawing/2014/main" val="946789180"/>
                    </a:ext>
                  </a:extLst>
                </a:gridCol>
                <a:gridCol w="957532">
                  <a:extLst>
                    <a:ext uri="{9D8B030D-6E8A-4147-A177-3AD203B41FA5}">
                      <a16:colId xmlns:a16="http://schemas.microsoft.com/office/drawing/2014/main" val="3483638722"/>
                    </a:ext>
                  </a:extLst>
                </a:gridCol>
                <a:gridCol w="1768415">
                  <a:extLst>
                    <a:ext uri="{9D8B030D-6E8A-4147-A177-3AD203B41FA5}">
                      <a16:colId xmlns:a16="http://schemas.microsoft.com/office/drawing/2014/main" val="1190061112"/>
                    </a:ext>
                  </a:extLst>
                </a:gridCol>
                <a:gridCol w="1466491">
                  <a:extLst>
                    <a:ext uri="{9D8B030D-6E8A-4147-A177-3AD203B41FA5}">
                      <a16:colId xmlns:a16="http://schemas.microsoft.com/office/drawing/2014/main" val="3469305604"/>
                    </a:ext>
                  </a:extLst>
                </a:gridCol>
                <a:gridCol w="2182483">
                  <a:extLst>
                    <a:ext uri="{9D8B030D-6E8A-4147-A177-3AD203B41FA5}">
                      <a16:colId xmlns:a16="http://schemas.microsoft.com/office/drawing/2014/main" val="3853106642"/>
                    </a:ext>
                  </a:extLst>
                </a:gridCol>
                <a:gridCol w="2344947">
                  <a:extLst>
                    <a:ext uri="{9D8B030D-6E8A-4147-A177-3AD203B41FA5}">
                      <a16:colId xmlns:a16="http://schemas.microsoft.com/office/drawing/2014/main" val="1601472594"/>
                    </a:ext>
                  </a:extLst>
                </a:gridCol>
              </a:tblGrid>
              <a:tr h="6180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Methodology Adapted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051210"/>
                  </a:ext>
                </a:extLst>
              </a:tr>
              <a:tr h="782770"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Entity-Relationship Model—Toward a Unified View of Data</a:t>
                      </a:r>
                      <a:endParaRPr lang="en-US" sz="1400" dirty="0">
                        <a:effectLst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Peter Chen</a:t>
                      </a:r>
                      <a:endParaRPr lang="en-IN" sz="1400" dirty="0">
                        <a:effectLst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ACM Transactions on Database Systems, 1976</a:t>
                      </a:r>
                      <a:endParaRPr lang="en-US" sz="1400" dirty="0">
                        <a:effectLst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Conceptual </a:t>
                      </a:r>
                      <a:r>
                        <a:rPr lang="en-IN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Modeling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Introduced the ER model as a standardized way to represent data conceptually.</a:t>
                      </a:r>
                      <a:endParaRPr lang="en-US" sz="1400" dirty="0">
                        <a:effectLst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 cover the direct translation process into a practical SQL schema.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25414"/>
                  </a:ext>
                </a:extLst>
              </a:tr>
              <a:tr h="971412">
                <a:tc>
                  <a:txBody>
                    <a:bodyPr/>
                    <a:lstStyle/>
                    <a:p>
                      <a:r>
                        <a:rPr lang="en-US" sz="1400"/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Relational Model of Data for Large Shared Data Banks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E.F. Codd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Communications of the ACM, 1970</a:t>
                      </a:r>
                      <a:endParaRPr lang="en-US" sz="1400" dirty="0">
                        <a:effectLst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Theoretical Model</a:t>
                      </a:r>
                      <a:endParaRPr lang="en-IN" sz="1400" dirty="0">
                        <a:effectLst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the relational model and the concept of normalization to reduce data redundancy.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foundational theory requires a practical guide for implementation.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357853"/>
                  </a:ext>
                </a:extLst>
              </a:tr>
              <a:tr h="971412">
                <a:tc>
                  <a:txBody>
                    <a:bodyPr/>
                    <a:lstStyle/>
                    <a:p>
                      <a:r>
                        <a:rPr lang="en-US" sz="1400"/>
                        <a:t>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Simple Guide to Five Normal Forms in Relational Database Theory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William Kent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Communications of the ACM, 1983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Normalization Theory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Provided clear explanations and examples for achieving database normalization up to 5NF.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Focuses on theory rather than the SQL commands needed to enforce it.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6231"/>
                  </a:ext>
                </a:extLst>
              </a:tr>
              <a:tr h="971412">
                <a:tc>
                  <a:txBody>
                    <a:bodyPr/>
                    <a:lstStyle/>
                    <a:p>
                      <a:r>
                        <a:rPr lang="en-US" sz="1400"/>
                        <a:t>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Empirical Study of SQL Usage in Practice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Christopher </a:t>
                      </a:r>
                      <a:r>
                        <a:rPr lang="en-IN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Ré</a:t>
                      </a:r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et al.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SIGMOD Conference, 2011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Analysis of SQL Logs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Analyzed common SQL patterns, showing heavy use of joins and simple filters in real-world applications.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Highlights what is used, but not how to design the schema to support it efficiently.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40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981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RESEARCH GAPS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600" b="1" dirty="0"/>
              <a:t>Methodological Gap:</a:t>
            </a:r>
            <a:r>
              <a:rPr lang="en-US" sz="2600" dirty="0"/>
              <a:t> A clear gap exists in literature that provides a single, cohesive workflow connecting the abstract theory of ER modeling with the practical, hands-on coding of a database schema.</a:t>
            </a:r>
          </a:p>
          <a:p>
            <a:pPr fontAlgn="base"/>
            <a:r>
              <a:rPr lang="en-US" sz="2600" b="1" dirty="0"/>
              <a:t>Educational Gap:</a:t>
            </a:r>
            <a:r>
              <a:rPr lang="en-US" sz="2600" dirty="0"/>
              <a:t> Novice developers and students often lack a consolidated guide that covers the entire lifecycle, from design (DDL), manipulation (DML), and advanced querying in a single case study.</a:t>
            </a:r>
          </a:p>
          <a:p>
            <a:pPr fontAlgn="base"/>
            <a:r>
              <a:rPr lang="en-US" sz="2600" b="1" dirty="0"/>
              <a:t>Implementation Gap:</a:t>
            </a:r>
            <a:r>
              <a:rPr lang="en-US" sz="2600" dirty="0"/>
              <a:t> Many guides stop at basic SQL, failing to introduce procedural extensions like PL/SQL, which are critical for implementing complex business logic and automation directly within the database.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17E4-6E19-7D4F-929C-210E5EEF05AA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82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HYPOTHESIS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structured and comprehensive methodology that systematically guides a user from conceptual ER design , through relational schema translation , DDL/DML implementation , and advanced querying will significantly improve the efficiency, accuracy, and robustness of database development for practitioners.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3878-28B1-2446-B55C-4BB93F45EA5F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0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To define a systematic process for designing an Entity-Relationship (ER) diagram and translating it into a normalized relational schema.</a:t>
            </a:r>
          </a:p>
          <a:p>
            <a:pPr fontAlgn="base"/>
            <a:r>
              <a:rPr lang="en-US" dirty="0"/>
              <a:t>To demonstrate the practical implementation of a database schema using Data Definition Language (DDL) and constraints for ensuring data integrity.</a:t>
            </a:r>
          </a:p>
          <a:p>
            <a:pPr fontAlgn="base"/>
            <a:r>
              <a:rPr lang="en-US" dirty="0"/>
              <a:t>To execute core Data Manipulation Language (DML) operations and advanced SQL queries, including inner and outer joins, for effective data management and retrieval.</a:t>
            </a:r>
          </a:p>
          <a:p>
            <a:r>
              <a:rPr lang="en-US" dirty="0"/>
              <a:t>To develop basic PL/SQL blocks to implement procedural logic, control structures, and error handling within the database.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DD55-50BC-044A-ABAF-34FB1FA02271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3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OBJECTIVE-1  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b="1" dirty="0"/>
              <a:t>Objective:</a:t>
            </a:r>
            <a:r>
              <a:rPr lang="en-US" dirty="0"/>
              <a:t> Design an ER diagram and translate it into a normalized relational schema.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Methodology:</a:t>
            </a:r>
            <a:endParaRPr lang="en-US" dirty="0"/>
          </a:p>
          <a:p>
            <a:pPr fontAlgn="base"/>
            <a:r>
              <a:rPr lang="en-US" b="1" dirty="0"/>
              <a:t>Step 1: Identify Entities and Attributes:</a:t>
            </a:r>
            <a:r>
              <a:rPr lang="en-US" dirty="0"/>
              <a:t> Define the main objects (e.g., Student, Course) and their properties.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b="1" dirty="0"/>
              <a:t>Step 2: Define Relationships:</a:t>
            </a:r>
            <a:r>
              <a:rPr lang="en-US" dirty="0"/>
              <a:t> Determine the connections between entities, such as One-to-Many and Many-to-Many.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CC30-D6E7-CF47-BFC3-3BFEC8CF83B8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5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OBJECTIVE-1    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Step 3: Draw ER Diagram:</a:t>
            </a:r>
            <a:r>
              <a:rPr lang="en-US" dirty="0"/>
              <a:t> Create a conceptual model using standard notations (rectangles for entities, diamonds for relationships).</a:t>
            </a:r>
          </a:p>
          <a:p>
            <a:pPr fontAlgn="base"/>
            <a:r>
              <a:rPr lang="en-US" b="1" dirty="0"/>
              <a:t>Step 4: Translate to Relational Schema:</a:t>
            </a:r>
            <a:r>
              <a:rPr lang="en-US" dirty="0"/>
              <a:t> Apply rules to convert the ER diagram into tables. Each entity becomes a table. Many-to-Many relationships require a new table with foreign keys. One-to-Many relationships are handled by placing a foreign key on the "many" side.</a:t>
            </a:r>
          </a:p>
          <a:p>
            <a:r>
              <a:rPr lang="en-US" b="1" dirty="0"/>
              <a:t>Step 5: Apply Normalization:</a:t>
            </a:r>
            <a:r>
              <a:rPr lang="en-US" dirty="0"/>
              <a:t> Ensure the schema is in at least 3rd Normal Form (3NF) to reduce data redundancy and improve data integrity.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F5F1-D364-AC4C-84BF-F811AA267706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1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OBJECTIVE-1       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dirty="0"/>
              <a:t>Result 1: Conceptual ER Diagram:</a:t>
            </a:r>
            <a:r>
              <a:rPr lang="en-IN" dirty="0"/>
              <a:t> A visual ER diagram representing the entities and relationships for a university system (e.g., Students, Departments, Courses, and </a:t>
            </a:r>
            <a:r>
              <a:rPr lang="en-IN" dirty="0" err="1"/>
              <a:t>Enrollments</a:t>
            </a:r>
            <a:r>
              <a:rPr lang="en-IN" dirty="0"/>
              <a:t>).</a:t>
            </a:r>
          </a:p>
          <a:p>
            <a:pPr fontAlgn="base"/>
            <a:r>
              <a:rPr lang="en-IN" b="1" dirty="0"/>
              <a:t>Result 2: Normalized Relational Schema:</a:t>
            </a:r>
            <a:r>
              <a:rPr lang="en-IN" dirty="0"/>
              <a:t> A complete logical schema defining the tables and their columns.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4A2E-60E3-4640-ABED-61404D63ED44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4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OBJECTIVE-1       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IN" dirty="0"/>
              <a:t>Department(</a:t>
            </a:r>
            <a:r>
              <a:rPr lang="en-IN" dirty="0" err="1"/>
              <a:t>DeptID</a:t>
            </a:r>
            <a:r>
              <a:rPr lang="en-IN" dirty="0"/>
              <a:t> PK, </a:t>
            </a:r>
            <a:r>
              <a:rPr lang="en-IN" dirty="0" err="1"/>
              <a:t>DeptName</a:t>
            </a:r>
            <a:r>
              <a:rPr lang="en-IN" dirty="0"/>
              <a:t>) </a:t>
            </a:r>
            <a:br>
              <a:rPr lang="en-IN" dirty="0"/>
            </a:b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Student(</a:t>
            </a:r>
            <a:r>
              <a:rPr lang="en-IN" dirty="0" err="1"/>
              <a:t>StudentID</a:t>
            </a:r>
            <a:r>
              <a:rPr lang="en-IN" dirty="0"/>
              <a:t> PK, Name, Email, </a:t>
            </a:r>
            <a:r>
              <a:rPr lang="en-IN" dirty="0" err="1"/>
              <a:t>DeptID</a:t>
            </a:r>
            <a:r>
              <a:rPr lang="en-IN" dirty="0"/>
              <a:t> FK) </a:t>
            </a:r>
            <a:br>
              <a:rPr lang="en-IN" dirty="0"/>
            </a:b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Course(</a:t>
            </a:r>
            <a:r>
              <a:rPr lang="en-IN" dirty="0" err="1"/>
              <a:t>CourseID</a:t>
            </a:r>
            <a:r>
              <a:rPr lang="en-IN" dirty="0"/>
              <a:t> PK, Title, Credits) </a:t>
            </a:r>
            <a:br>
              <a:rPr lang="en-IN" dirty="0"/>
            </a:br>
            <a:br>
              <a:rPr lang="en-IN" dirty="0"/>
            </a:br>
            <a:endParaRPr lang="en-IN" dirty="0"/>
          </a:p>
          <a:p>
            <a:r>
              <a:rPr lang="en-IN" dirty="0" err="1"/>
              <a:t>Enrollment</a:t>
            </a:r>
            <a:r>
              <a:rPr lang="en-IN" dirty="0"/>
              <a:t>(</a:t>
            </a:r>
            <a:r>
              <a:rPr lang="en-IN" dirty="0" err="1"/>
              <a:t>EnrollmentID</a:t>
            </a:r>
            <a:r>
              <a:rPr lang="en-IN" dirty="0"/>
              <a:t> PK, </a:t>
            </a:r>
            <a:r>
              <a:rPr lang="en-IN" dirty="0" err="1"/>
              <a:t>StudentID</a:t>
            </a:r>
            <a:r>
              <a:rPr lang="en-IN" dirty="0"/>
              <a:t> FK, </a:t>
            </a:r>
            <a:r>
              <a:rPr lang="en-IN" dirty="0" err="1"/>
              <a:t>CourseID</a:t>
            </a:r>
            <a:r>
              <a:rPr lang="en-IN" dirty="0"/>
              <a:t> FK, Grade) </a:t>
            </a:r>
            <a:br>
              <a:rPr lang="en-IN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5F2D-E2FF-904D-9036-945447CF30AE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7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OBJECTIVE-2  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b="1" dirty="0"/>
              <a:t>Objective:</a:t>
            </a:r>
            <a:r>
              <a:rPr lang="en-US" dirty="0"/>
              <a:t> Implement the database schema using DDL and constraints.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b="1" dirty="0"/>
              <a:t>Methodology: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Step 1: Install DBMS:</a:t>
            </a:r>
            <a:r>
              <a:rPr lang="en-US" dirty="0"/>
              <a:t> Set up a Database Management System like MySQL or PostgreSQL.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fontAlgn="base"/>
            <a:r>
              <a:rPr lang="en-US" b="1" dirty="0"/>
              <a:t>Step 2: Create Database:</a:t>
            </a:r>
            <a:r>
              <a:rPr lang="en-US" dirty="0"/>
              <a:t> Use the CREATE DATABASE command to initialize the database container.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Step 3: Define Tables:</a:t>
            </a:r>
            <a:r>
              <a:rPr lang="en-US" dirty="0"/>
              <a:t> Use the CREATE TABLE command to define each table with its columns and appropriate data types (e.g., INT, VARCHAR).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EAAF-E2CC-2743-9E81-8B7D9D15BBDD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83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OBJECTIVE-2    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Step 4: Implement Constraints:</a:t>
            </a:r>
            <a:r>
              <a:rPr lang="en-US" dirty="0"/>
              <a:t> Enforce data integrity using constraints during table creation.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PRIMARY KEY: Uniquely identifies each record.</a:t>
            </a:r>
          </a:p>
          <a:p>
            <a:pPr fontAlgn="base"/>
            <a:r>
              <a:rPr lang="en-US" dirty="0"/>
              <a:t>FOREIGN KEY: Links tables and maintains referential integrity.</a:t>
            </a:r>
          </a:p>
          <a:p>
            <a:pPr fontAlgn="base"/>
            <a:r>
              <a:rPr lang="en-US" dirty="0"/>
              <a:t>UNIQUE: Ensures all values in a column are distinct.</a:t>
            </a:r>
          </a:p>
          <a:p>
            <a:pPr fontAlgn="base"/>
            <a:r>
              <a:rPr lang="en-US" dirty="0"/>
              <a:t>NOT NULL: Prevents a column from having a null value.</a:t>
            </a:r>
          </a:p>
          <a:p>
            <a:pPr fontAlgn="base"/>
            <a:r>
              <a:rPr lang="en-US" dirty="0"/>
              <a:t>CHECK: Restricts the value range for a column.</a:t>
            </a:r>
          </a:p>
          <a:p>
            <a:r>
              <a:rPr lang="en-US" dirty="0"/>
              <a:t>DEFAULT: Provides a default value for a column when none is specified.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2EA7-9A3F-3F4F-851F-EFED1216580D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04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OBJECTIVE-2       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Result 1: Complete and Executable DDL Scripts</a:t>
            </a:r>
            <a:endParaRPr lang="en-US" dirty="0"/>
          </a:p>
          <a:p>
            <a:r>
              <a:rPr lang="en-US" dirty="0"/>
              <a:t>Full set of DDL scripts created for the </a:t>
            </a:r>
            <a:r>
              <a:rPr lang="en-US" i="1" dirty="0"/>
              <a:t>University</a:t>
            </a:r>
            <a:r>
              <a:rPr lang="en-US" dirty="0"/>
              <a:t> database schema.</a:t>
            </a:r>
          </a:p>
          <a:p>
            <a:r>
              <a:rPr lang="en-US" dirty="0"/>
              <a:t>Includes CREATE TABLE statements for </a:t>
            </a:r>
            <a:r>
              <a:rPr lang="en-US" b="1" dirty="0"/>
              <a:t>Department, Student, Course, and Enrollment</a:t>
            </a:r>
            <a:r>
              <a:rPr lang="en-US" dirty="0"/>
              <a:t> tables.</a:t>
            </a:r>
          </a:p>
          <a:p>
            <a:r>
              <a:rPr lang="en-US" dirty="0"/>
              <a:t>Each script defines columns, data types, and integrity constraints.</a:t>
            </a:r>
          </a:p>
          <a:p>
            <a:r>
              <a:rPr lang="en-US" dirty="0"/>
              <a:t>Enforced </a:t>
            </a:r>
            <a:r>
              <a:rPr lang="en-US" b="1" dirty="0"/>
              <a:t>primary keys, foreign keys, unique rules, and NOT NULL conditions</a:t>
            </a:r>
            <a:r>
              <a:rPr lang="en-US" dirty="0"/>
              <a:t> as per methodology.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06AA-A69A-B944-BA9E-A7C3032324EB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24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OBJECTIVE-2       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Result 2: Functional and Integrity-Checked Database Structure</a:t>
            </a:r>
            <a:endParaRPr lang="en-US" dirty="0"/>
          </a:p>
          <a:p>
            <a:r>
              <a:rPr lang="en-US" dirty="0"/>
              <a:t>DDL scripts executed successfully to create the </a:t>
            </a:r>
            <a:r>
              <a:rPr lang="en-US" b="1" dirty="0"/>
              <a:t>University</a:t>
            </a:r>
            <a:r>
              <a:rPr lang="en-US" dirty="0"/>
              <a:t> database.</a:t>
            </a:r>
          </a:p>
          <a:p>
            <a:r>
              <a:rPr lang="en-US" dirty="0"/>
              <a:t>All tables, columns, data types, and constraints implemented correctly.</a:t>
            </a:r>
          </a:p>
          <a:p>
            <a:r>
              <a:rPr lang="en-US" dirty="0"/>
              <a:t>Structure is robust, logically designed, and ready for data population.</a:t>
            </a:r>
          </a:p>
          <a:p>
            <a:r>
              <a:rPr lang="en-US" dirty="0"/>
              <a:t>Database now prepared for next phase: </a:t>
            </a:r>
            <a:r>
              <a:rPr lang="en-US" b="1" dirty="0"/>
              <a:t>DML operations (data population &amp; manipulation)</a:t>
            </a:r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4C9F-BFB8-8E4A-BB53-5A9682BEC235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84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OBJECTIVE-3  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dirty="0"/>
              <a:t>Objective:</a:t>
            </a:r>
            <a:r>
              <a:rPr lang="en-US" sz="2400" dirty="0"/>
              <a:t> Execute DML operations and advanced SQL queries</a:t>
            </a:r>
            <a:r>
              <a:rPr lang="en-US" sz="2400" baseline="30000" dirty="0"/>
              <a:t>58585858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pPr fontAlgn="base"/>
            <a:r>
              <a:rPr lang="en-US" sz="2400" b="1" dirty="0"/>
              <a:t>Methodology:</a:t>
            </a:r>
            <a:endParaRPr lang="en-US" sz="2400" dirty="0"/>
          </a:p>
          <a:p>
            <a:pPr fontAlgn="base"/>
            <a:r>
              <a:rPr lang="en-US" sz="2400" b="1" dirty="0"/>
              <a:t>Data Insertion:</a:t>
            </a:r>
            <a:r>
              <a:rPr lang="en-US" sz="2400" dirty="0"/>
              <a:t> Use the INSERT INTO ... VALUES statement to populate the tables with sample data.</a:t>
            </a:r>
            <a:br>
              <a:rPr lang="en-US" sz="2400" dirty="0"/>
            </a:br>
            <a:endParaRPr lang="en-US" sz="2400" dirty="0"/>
          </a:p>
          <a:p>
            <a:pPr fontAlgn="base"/>
            <a:r>
              <a:rPr lang="en-US" sz="2400" b="1" dirty="0"/>
              <a:t>Data Modification:</a:t>
            </a:r>
            <a:r>
              <a:rPr lang="en-US" sz="2400" dirty="0"/>
              <a:t> Use the UPDATE ... SET ... WHERE statement to modify existing records based on specific conditions.</a:t>
            </a:r>
            <a:br>
              <a:rPr lang="en-US" sz="2400" dirty="0"/>
            </a:br>
            <a:endParaRPr lang="en-US" sz="2400" dirty="0"/>
          </a:p>
          <a:p>
            <a:pPr fontAlgn="base"/>
            <a:r>
              <a:rPr lang="en-US" sz="2400" b="1" dirty="0"/>
              <a:t>Data Deletion:</a:t>
            </a:r>
            <a:r>
              <a:rPr lang="en-US" sz="2400" dirty="0"/>
              <a:t> Use the DELETE FROM ... WHERE statement to remove records from tables.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0A56-3333-7E42-8176-5EFEC4773EFC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71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OBJECTIVE-3    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endParaRPr lang="en-IN" dirty="0"/>
          </a:p>
          <a:p>
            <a:pPr fontAlgn="base"/>
            <a:r>
              <a:rPr lang="en-US" sz="2600" b="1" dirty="0"/>
              <a:t>Filtered Retrieval:</a:t>
            </a:r>
            <a:r>
              <a:rPr lang="en-US" sz="2600" dirty="0"/>
              <a:t> Use the SELECT statement with the WHERE clause to filter and retrieve specific data.</a:t>
            </a:r>
            <a:br>
              <a:rPr lang="en-US" sz="2600" dirty="0"/>
            </a:br>
            <a:br>
              <a:rPr lang="en-US" sz="2600" dirty="0"/>
            </a:br>
            <a:endParaRPr lang="en-US" sz="2600" dirty="0"/>
          </a:p>
          <a:p>
            <a:pPr fontAlgn="base"/>
            <a:r>
              <a:rPr lang="en-US" sz="2600" b="1" dirty="0"/>
              <a:t>Data Combination (Inner Join):</a:t>
            </a:r>
            <a:r>
              <a:rPr lang="en-US" sz="2600" dirty="0"/>
              <a:t> Use INNER JOIN to combine and retrieve rows that have matching values in two or more tables.</a:t>
            </a:r>
            <a:br>
              <a:rPr lang="en-US" sz="2600" dirty="0"/>
            </a:br>
            <a:br>
              <a:rPr lang="en-US" sz="2600" dirty="0"/>
            </a:br>
            <a:endParaRPr lang="en-US" sz="2600" dirty="0"/>
          </a:p>
          <a:p>
            <a:r>
              <a:rPr lang="en-US" sz="2600" b="1" dirty="0"/>
              <a:t>Data Combination (Outer Join):</a:t>
            </a:r>
            <a:r>
              <a:rPr lang="en-US" sz="2600" dirty="0"/>
              <a:t> Use LEFT OUTER JOIN to retrieve all rows from the left table, and the matched rows from the right table, showing NULL where there is no match.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1B89-D0C8-194E-AE7C-9178FC0015C0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7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OBJECTIVE-3       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9073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Result 1: A Populated and Functional Database</a:t>
            </a:r>
          </a:p>
          <a:p>
            <a:r>
              <a:rPr lang="en-US" dirty="0"/>
              <a:t>Database tables populated with consistent sample data using INSERT statements.</a:t>
            </a:r>
          </a:p>
          <a:p>
            <a:r>
              <a:rPr lang="en-US" dirty="0"/>
              <a:t>Records included entities like:</a:t>
            </a:r>
          </a:p>
          <a:p>
            <a:pPr lvl="1"/>
            <a:r>
              <a:rPr lang="en-US" b="1" dirty="0"/>
              <a:t>Students</a:t>
            </a:r>
            <a:r>
              <a:rPr lang="en-US" dirty="0"/>
              <a:t> (e.g., </a:t>
            </a:r>
            <a:r>
              <a:rPr lang="en-US" i="1" dirty="0"/>
              <a:t>Alice</a:t>
            </a:r>
            <a:r>
              <a:rPr lang="en-US" dirty="0"/>
              <a:t>, </a:t>
            </a:r>
            <a:r>
              <a:rPr lang="en-US" i="1" dirty="0"/>
              <a:t>Bob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Courses</a:t>
            </a:r>
            <a:r>
              <a:rPr lang="en-US" dirty="0"/>
              <a:t> (e.g., </a:t>
            </a:r>
            <a:r>
              <a:rPr lang="en-US" i="1" dirty="0"/>
              <a:t>Database Systems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Enrollments</a:t>
            </a:r>
            <a:r>
              <a:rPr lang="en-US" dirty="0"/>
              <a:t> linking students to courses.</a:t>
            </a:r>
          </a:p>
          <a:p>
            <a:r>
              <a:rPr lang="en-US" dirty="0"/>
              <a:t>UPDATE and DELETE commands executed successfully, confirming data manipulation works correctly while maintaining integrity constraints.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44B-99EC-2D41-B8E3-278CF65916AE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79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OBJECTIVE-3       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Result 2: A Validated Query Set for Complex Data Analysis</a:t>
            </a:r>
          </a:p>
          <a:p>
            <a:r>
              <a:rPr lang="en-US" dirty="0"/>
              <a:t>A series of SQL queries validated the database’s analytical capabilities:</a:t>
            </a:r>
          </a:p>
          <a:p>
            <a:r>
              <a:rPr lang="en-US" b="1" dirty="0"/>
              <a:t>Filtered Data Retrieval</a:t>
            </a:r>
            <a:endParaRPr lang="en-US" dirty="0"/>
          </a:p>
          <a:p>
            <a:pPr lvl="1"/>
            <a:r>
              <a:rPr lang="en-US" dirty="0"/>
              <a:t>SELECT … WHERE grade = 'A' retrieved all students with ‘A’ grade.</a:t>
            </a:r>
          </a:p>
          <a:p>
            <a:pPr lvl="1"/>
            <a:r>
              <a:rPr lang="en-US" dirty="0"/>
              <a:t>Demonstrated correct data filtering.</a:t>
            </a:r>
          </a:p>
          <a:p>
            <a:r>
              <a:rPr lang="en-US" b="1" dirty="0"/>
              <a:t>Consolidated View of Related Data</a:t>
            </a:r>
            <a:endParaRPr lang="en-US" dirty="0"/>
          </a:p>
          <a:p>
            <a:pPr lvl="1"/>
            <a:r>
              <a:rPr lang="en-US" dirty="0"/>
              <a:t>INNER JOIN across </a:t>
            </a:r>
            <a:r>
              <a:rPr lang="en-US" i="1" dirty="0"/>
              <a:t>Students</a:t>
            </a:r>
            <a:r>
              <a:rPr lang="en-US" dirty="0"/>
              <a:t>, </a:t>
            </a:r>
            <a:r>
              <a:rPr lang="en-US" i="1" dirty="0"/>
              <a:t>Enrollment</a:t>
            </a:r>
            <a:r>
              <a:rPr lang="en-US" dirty="0"/>
              <a:t>, and </a:t>
            </a:r>
            <a:r>
              <a:rPr lang="en-US" i="1" dirty="0"/>
              <a:t>Courses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Produced unified results: student names with enrolled course titles.</a:t>
            </a:r>
          </a:p>
          <a:p>
            <a:r>
              <a:rPr lang="en-US" b="1" dirty="0"/>
              <a:t>Comprehensive Reporting with Missing Data</a:t>
            </a:r>
            <a:endParaRPr lang="en-US" dirty="0"/>
          </a:p>
          <a:p>
            <a:pPr lvl="1"/>
            <a:r>
              <a:rPr lang="en-US" dirty="0"/>
              <a:t>LEFT OUTER JOIN executed to list all students with/without enrollments.</a:t>
            </a:r>
          </a:p>
          <a:p>
            <a:pPr lvl="1"/>
            <a:r>
              <a:rPr lang="en-US" dirty="0"/>
              <a:t>Returned complete student list, showing course details or NULL where not enrolled.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9AD1-031F-0A4E-8E18-A9A50085C829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33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Workflow Effectiveness:</a:t>
            </a:r>
            <a:r>
              <a:rPr lang="en-US" dirty="0"/>
              <a:t> The documented workflow provides a robust and repeatable process for translating conceptual requirements into a physical database, confirming the research hypothesis.</a:t>
            </a:r>
          </a:p>
          <a:p>
            <a:pPr fontAlgn="base"/>
            <a:r>
              <a:rPr lang="en-US" b="1" dirty="0"/>
              <a:t>Modularity:</a:t>
            </a:r>
            <a:r>
              <a:rPr lang="en-US" dirty="0"/>
              <a:t> The separation of design (ER), structure (DDL), and manipulation (DML) allows for a modular approach where each stage can be validated before proceeding to the next.</a:t>
            </a:r>
          </a:p>
          <a:p>
            <a:r>
              <a:rPr lang="en-US" b="1" dirty="0"/>
              <a:t>Data Integrity:</a:t>
            </a:r>
            <a:r>
              <a:rPr lang="en-US" dirty="0"/>
              <a:t> The application of constraints like PRIMARY KEY and FOREIGN KEY at the DDL stage is crucial for preventing inconsistent or orphaned data during DML operations</a:t>
            </a:r>
            <a:r>
              <a:rPr lang="en-US" baseline="30000" dirty="0"/>
              <a:t>69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9A4A-C646-784F-A9F9-CCFC8D14136D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99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Querying Power:</a:t>
            </a:r>
            <a:r>
              <a:rPr lang="en-US" dirty="0"/>
              <a:t> The use of INNER and OUTER joins demonstrates that the true value of a relational database lies not just in storing data, but in its ability to flexibly combine and analyze data across different tables.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Extensibility:</a:t>
            </a:r>
            <a:r>
              <a:rPr lang="en-US" dirty="0"/>
              <a:t> The inclusion of PL/SQL shows that the database is not merely a passive data store but can be an active component of an application, handling complex logic and automation.</a:t>
            </a:r>
            <a:br>
              <a:rPr lang="en-US" dirty="0"/>
            </a:b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85717-E592-B147-84A2-75DC235C1EFE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90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D4AC33-B9E0-4CB7-6C6A-5400CD5E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1EDECE5-03F2-0E2B-F267-0419F3B8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 &amp; FUTURE SCOPE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CE5159-4A42-7D2A-C347-9197FA24B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Conclusion:</a:t>
            </a:r>
            <a:endParaRPr lang="en-US" dirty="0"/>
          </a:p>
          <a:p>
            <a:pPr fontAlgn="base"/>
            <a:r>
              <a:rPr lang="en-US" dirty="0"/>
              <a:t>This work successfully defined and validated a comprehensive methodology for the design and implementation of a relational database.</a:t>
            </a:r>
          </a:p>
          <a:p>
            <a:pPr fontAlgn="base"/>
            <a:r>
              <a:rPr lang="en-US" dirty="0"/>
              <a:t>The process, from ER modeling to PL/SQL, provides a foundational framework for developing robust, data-centric applications.</a:t>
            </a:r>
          </a:p>
          <a:p>
            <a:pPr fontAlgn="base"/>
            <a:r>
              <a:rPr lang="en-US" dirty="0"/>
              <a:t>The practical examples and clear steps serve as an effective guide for both educational and developmental purposes.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69B63-A7DF-2C0D-3130-1163BE5A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4C10F-7C9C-1748-825D-EBC81FFA948D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C13E2-8583-ECAE-602C-E83529B1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FD2B8-DF4B-085C-0E28-471C128D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48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 &amp; FUTURE SCOPE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Future Scope:</a:t>
            </a:r>
            <a:endParaRPr lang="en-US" dirty="0"/>
          </a:p>
          <a:p>
            <a:pPr fontAlgn="base"/>
            <a:r>
              <a:rPr lang="en-US" b="1" dirty="0"/>
              <a:t>Advanced Procedural Logic:</a:t>
            </a:r>
            <a:r>
              <a:rPr lang="en-US" dirty="0"/>
              <a:t> Develop complex PL/SQL stored procedures, functions, and triggers to automate business rules.</a:t>
            </a:r>
          </a:p>
          <a:p>
            <a:pPr fontAlgn="base"/>
            <a:r>
              <a:rPr lang="en-US" b="1" dirty="0"/>
              <a:t>Performance Tuning:</a:t>
            </a:r>
            <a:r>
              <a:rPr lang="en-US" dirty="0"/>
              <a:t> Analyze and optimize the performance of the database and SQL queries using indexing and query execution plans.</a:t>
            </a:r>
          </a:p>
          <a:p>
            <a:pPr fontAlgn="base"/>
            <a:r>
              <a:rPr lang="en-US" b="1" dirty="0"/>
              <a:t>Transaction Management:</a:t>
            </a:r>
            <a:r>
              <a:rPr lang="en-US" dirty="0"/>
              <a:t> Implement advanced transaction control and concurrency management to ensure data consistency in multi-user environments.</a:t>
            </a:r>
          </a:p>
          <a:p>
            <a:pPr fontAlgn="base"/>
            <a:r>
              <a:rPr lang="en-US" b="1" dirty="0"/>
              <a:t>Application Integration:</a:t>
            </a:r>
            <a:r>
              <a:rPr lang="en-US" dirty="0"/>
              <a:t> Integrate the created database with a full-stack web application to demonstrate its real-world utility.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4C10F-7C9C-1748-825D-EBC81FFA948D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12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NO OF PUBLICATIONS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1223"/>
            <a:ext cx="10515600" cy="547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UNDER REVIEW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A76-02B6-594B-BB0A-4CE067BB461C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D024EA4F-3971-FAB1-3A57-B2EA69B56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5499543"/>
              </p:ext>
            </p:extLst>
          </p:nvPr>
        </p:nvGraphicFramePr>
        <p:xfrm>
          <a:off x="291295" y="1606737"/>
          <a:ext cx="11609409" cy="102563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321882">
                  <a:extLst>
                    <a:ext uri="{9D8B030D-6E8A-4147-A177-3AD203B41FA5}">
                      <a16:colId xmlns:a16="http://schemas.microsoft.com/office/drawing/2014/main" val="1487177333"/>
                    </a:ext>
                  </a:extLst>
                </a:gridCol>
                <a:gridCol w="1646956">
                  <a:extLst>
                    <a:ext uri="{9D8B030D-6E8A-4147-A177-3AD203B41FA5}">
                      <a16:colId xmlns:a16="http://schemas.microsoft.com/office/drawing/2014/main" val="3085737025"/>
                    </a:ext>
                  </a:extLst>
                </a:gridCol>
                <a:gridCol w="2996807">
                  <a:extLst>
                    <a:ext uri="{9D8B030D-6E8A-4147-A177-3AD203B41FA5}">
                      <a16:colId xmlns:a16="http://schemas.microsoft.com/office/drawing/2014/main" val="3165557835"/>
                    </a:ext>
                  </a:extLst>
                </a:gridCol>
                <a:gridCol w="2321882">
                  <a:extLst>
                    <a:ext uri="{9D8B030D-6E8A-4147-A177-3AD203B41FA5}">
                      <a16:colId xmlns:a16="http://schemas.microsoft.com/office/drawing/2014/main" val="1376989863"/>
                    </a:ext>
                  </a:extLst>
                </a:gridCol>
                <a:gridCol w="2321882">
                  <a:extLst>
                    <a:ext uri="{9D8B030D-6E8A-4147-A177-3AD203B41FA5}">
                      <a16:colId xmlns:a16="http://schemas.microsoft.com/office/drawing/2014/main" val="1812376373"/>
                    </a:ext>
                  </a:extLst>
                </a:gridCol>
              </a:tblGrid>
              <a:tr h="5228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Academic Year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116695" marR="11669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Batch No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116695" marR="11669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Journal Articles Indexed in Scopus/WOS/ABDC(A&amp;B)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116695" marR="11669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Scopus &amp; WOS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WOS &amp; ABDC(A&amp;B)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Scopus &amp; ABDC(A&amp;B)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116695" marR="11669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Conference Articles indexed in Scopus / WOS with ISBN Number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6695" marR="11669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922710"/>
                  </a:ext>
                </a:extLst>
              </a:tr>
              <a:tr h="38555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130007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3E2BC2EB-0842-3F45-D2AC-B4740A7E1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48420"/>
              </p:ext>
            </p:extLst>
          </p:nvPr>
        </p:nvGraphicFramePr>
        <p:xfrm>
          <a:off x="291295" y="3429000"/>
          <a:ext cx="11609410" cy="212181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77245">
                  <a:extLst>
                    <a:ext uri="{9D8B030D-6E8A-4147-A177-3AD203B41FA5}">
                      <a16:colId xmlns:a16="http://schemas.microsoft.com/office/drawing/2014/main" val="4092125423"/>
                    </a:ext>
                  </a:extLst>
                </a:gridCol>
                <a:gridCol w="2020656">
                  <a:extLst>
                    <a:ext uri="{9D8B030D-6E8A-4147-A177-3AD203B41FA5}">
                      <a16:colId xmlns:a16="http://schemas.microsoft.com/office/drawing/2014/main" val="3175739715"/>
                    </a:ext>
                  </a:extLst>
                </a:gridCol>
                <a:gridCol w="1555779">
                  <a:extLst>
                    <a:ext uri="{9D8B030D-6E8A-4147-A177-3AD203B41FA5}">
                      <a16:colId xmlns:a16="http://schemas.microsoft.com/office/drawing/2014/main" val="3134540082"/>
                    </a:ext>
                  </a:extLst>
                </a:gridCol>
                <a:gridCol w="2580027">
                  <a:extLst>
                    <a:ext uri="{9D8B030D-6E8A-4147-A177-3AD203B41FA5}">
                      <a16:colId xmlns:a16="http://schemas.microsoft.com/office/drawing/2014/main" val="1868000914"/>
                    </a:ext>
                  </a:extLst>
                </a:gridCol>
                <a:gridCol w="1359440">
                  <a:extLst>
                    <a:ext uri="{9D8B030D-6E8A-4147-A177-3AD203B41FA5}">
                      <a16:colId xmlns:a16="http://schemas.microsoft.com/office/drawing/2014/main" val="616113154"/>
                    </a:ext>
                  </a:extLst>
                </a:gridCol>
                <a:gridCol w="1405719">
                  <a:extLst>
                    <a:ext uri="{9D8B030D-6E8A-4147-A177-3AD203B41FA5}">
                      <a16:colId xmlns:a16="http://schemas.microsoft.com/office/drawing/2014/main" val="98725567"/>
                    </a:ext>
                  </a:extLst>
                </a:gridCol>
                <a:gridCol w="1062688">
                  <a:extLst>
                    <a:ext uri="{9D8B030D-6E8A-4147-A177-3AD203B41FA5}">
                      <a16:colId xmlns:a16="http://schemas.microsoft.com/office/drawing/2014/main" val="2147756849"/>
                    </a:ext>
                  </a:extLst>
                </a:gridCol>
                <a:gridCol w="847856">
                  <a:extLst>
                    <a:ext uri="{9D8B030D-6E8A-4147-A177-3AD203B41FA5}">
                      <a16:colId xmlns:a16="http://schemas.microsoft.com/office/drawing/2014/main" val="192856945"/>
                    </a:ext>
                  </a:extLst>
                </a:gridCol>
              </a:tblGrid>
              <a:tr h="734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Authors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Journal Name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 of Communication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Indexed in</a:t>
                      </a:r>
                    </a:p>
                    <a:p>
                      <a:pPr algn="ctr"/>
                      <a:r>
                        <a:rPr lang="en-IN" sz="1400" dirty="0">
                          <a:effectLst/>
                        </a:rPr>
                        <a:t>Scopus/WOS/ABDC(A&amp;B)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Categories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Impact 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36910"/>
                  </a:ext>
                </a:extLst>
              </a:tr>
              <a:tr h="551846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Speech translation system for language barrier reduction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Swetha V Patil and N Pradeep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International Research Journal of Engineering and Technology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10-01-2021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Scopus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481397"/>
                  </a:ext>
                </a:extLst>
              </a:tr>
              <a:tr h="65577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5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230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NO OF PUBLICATIONS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530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PUBLISHED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CD32-0641-164B-9736-2EE067446796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6F904C5E-7E6E-E66E-7FDC-B1CD03A0E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499389"/>
              </p:ext>
            </p:extLst>
          </p:nvPr>
        </p:nvGraphicFramePr>
        <p:xfrm>
          <a:off x="540330" y="2049555"/>
          <a:ext cx="11254272" cy="275889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34527">
                  <a:extLst>
                    <a:ext uri="{9D8B030D-6E8A-4147-A177-3AD203B41FA5}">
                      <a16:colId xmlns:a16="http://schemas.microsoft.com/office/drawing/2014/main" val="4092125423"/>
                    </a:ext>
                  </a:extLst>
                </a:gridCol>
                <a:gridCol w="1734737">
                  <a:extLst>
                    <a:ext uri="{9D8B030D-6E8A-4147-A177-3AD203B41FA5}">
                      <a16:colId xmlns:a16="http://schemas.microsoft.com/office/drawing/2014/main" val="3175739715"/>
                    </a:ext>
                  </a:extLst>
                </a:gridCol>
                <a:gridCol w="1372629">
                  <a:extLst>
                    <a:ext uri="{9D8B030D-6E8A-4147-A177-3AD203B41FA5}">
                      <a16:colId xmlns:a16="http://schemas.microsoft.com/office/drawing/2014/main" val="3134540082"/>
                    </a:ext>
                  </a:extLst>
                </a:gridCol>
                <a:gridCol w="2287712">
                  <a:extLst>
                    <a:ext uri="{9D8B030D-6E8A-4147-A177-3AD203B41FA5}">
                      <a16:colId xmlns:a16="http://schemas.microsoft.com/office/drawing/2014/main" val="1868000914"/>
                    </a:ext>
                  </a:extLst>
                </a:gridCol>
                <a:gridCol w="902375">
                  <a:extLst>
                    <a:ext uri="{9D8B030D-6E8A-4147-A177-3AD203B41FA5}">
                      <a16:colId xmlns:a16="http://schemas.microsoft.com/office/drawing/2014/main" val="3126716983"/>
                    </a:ext>
                  </a:extLst>
                </a:gridCol>
                <a:gridCol w="1042180">
                  <a:extLst>
                    <a:ext uri="{9D8B030D-6E8A-4147-A177-3AD203B41FA5}">
                      <a16:colId xmlns:a16="http://schemas.microsoft.com/office/drawing/2014/main" val="616113154"/>
                    </a:ext>
                  </a:extLst>
                </a:gridCol>
                <a:gridCol w="826118">
                  <a:extLst>
                    <a:ext uri="{9D8B030D-6E8A-4147-A177-3AD203B41FA5}">
                      <a16:colId xmlns:a16="http://schemas.microsoft.com/office/drawing/2014/main" val="98725567"/>
                    </a:ext>
                  </a:extLst>
                </a:gridCol>
                <a:gridCol w="915085">
                  <a:extLst>
                    <a:ext uri="{9D8B030D-6E8A-4147-A177-3AD203B41FA5}">
                      <a16:colId xmlns:a16="http://schemas.microsoft.com/office/drawing/2014/main" val="2147756849"/>
                    </a:ext>
                  </a:extLst>
                </a:gridCol>
                <a:gridCol w="699023">
                  <a:extLst>
                    <a:ext uri="{9D8B030D-6E8A-4147-A177-3AD203B41FA5}">
                      <a16:colId xmlns:a16="http://schemas.microsoft.com/office/drawing/2014/main" val="192856945"/>
                    </a:ext>
                  </a:extLst>
                </a:gridCol>
                <a:gridCol w="839886">
                  <a:extLst>
                    <a:ext uri="{9D8B030D-6E8A-4147-A177-3AD203B41FA5}">
                      <a16:colId xmlns:a16="http://schemas.microsoft.com/office/drawing/2014/main" val="1818004631"/>
                    </a:ext>
                  </a:extLst>
                </a:gridCol>
              </a:tblGrid>
              <a:tr h="734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Authors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Journal Name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Volume  &amp; Page Numbers</a:t>
                      </a:r>
                    </a:p>
                    <a:p>
                      <a:pPr algn="ctr"/>
                      <a:r>
                        <a:rPr lang="en-US" sz="1400" dirty="0"/>
                        <a:t>/ DOI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 of Publication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Indexed in</a:t>
                      </a:r>
                    </a:p>
                    <a:p>
                      <a:pPr algn="ctr"/>
                      <a:r>
                        <a:rPr lang="en-IN" sz="1400" dirty="0">
                          <a:effectLst/>
                        </a:rPr>
                        <a:t>Scopus/WOS/ABDC(A&amp;B)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Categories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Impact 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36910"/>
                  </a:ext>
                </a:extLst>
              </a:tr>
              <a:tr h="678267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Speech translation system for language barrier reduction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Swetha V Patil and N Pradeep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International Research Journal of Engineering and Technology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 &amp;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10-01-2021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Scopus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481397"/>
                  </a:ext>
                </a:extLst>
              </a:tr>
              <a:tr h="65577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5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319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NO OF PUBLICATIONS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323"/>
            <a:ext cx="10515600" cy="563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TO BE COMMUNICATED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5B4C-36AE-474B-A7BB-989FB4608B87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546973E8-CD28-C3A8-394F-F4B1E662C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09840"/>
              </p:ext>
            </p:extLst>
          </p:nvPr>
        </p:nvGraphicFramePr>
        <p:xfrm>
          <a:off x="443695" y="2197950"/>
          <a:ext cx="11282005" cy="212181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855503">
                  <a:extLst>
                    <a:ext uri="{9D8B030D-6E8A-4147-A177-3AD203B41FA5}">
                      <a16:colId xmlns:a16="http://schemas.microsoft.com/office/drawing/2014/main" val="4092125423"/>
                    </a:ext>
                  </a:extLst>
                </a:gridCol>
                <a:gridCol w="2224109">
                  <a:extLst>
                    <a:ext uri="{9D8B030D-6E8A-4147-A177-3AD203B41FA5}">
                      <a16:colId xmlns:a16="http://schemas.microsoft.com/office/drawing/2014/main" val="3175739715"/>
                    </a:ext>
                  </a:extLst>
                </a:gridCol>
                <a:gridCol w="1712425">
                  <a:extLst>
                    <a:ext uri="{9D8B030D-6E8A-4147-A177-3AD203B41FA5}">
                      <a16:colId xmlns:a16="http://schemas.microsoft.com/office/drawing/2014/main" val="3134540082"/>
                    </a:ext>
                  </a:extLst>
                </a:gridCol>
                <a:gridCol w="2839801">
                  <a:extLst>
                    <a:ext uri="{9D8B030D-6E8A-4147-A177-3AD203B41FA5}">
                      <a16:colId xmlns:a16="http://schemas.microsoft.com/office/drawing/2014/main" val="1868000914"/>
                    </a:ext>
                  </a:extLst>
                </a:gridCol>
                <a:gridCol w="1547256">
                  <a:extLst>
                    <a:ext uri="{9D8B030D-6E8A-4147-A177-3AD203B41FA5}">
                      <a16:colId xmlns:a16="http://schemas.microsoft.com/office/drawing/2014/main" val="98725567"/>
                    </a:ext>
                  </a:extLst>
                </a:gridCol>
                <a:gridCol w="1169687">
                  <a:extLst>
                    <a:ext uri="{9D8B030D-6E8A-4147-A177-3AD203B41FA5}">
                      <a16:colId xmlns:a16="http://schemas.microsoft.com/office/drawing/2014/main" val="2147756849"/>
                    </a:ext>
                  </a:extLst>
                </a:gridCol>
                <a:gridCol w="933224">
                  <a:extLst>
                    <a:ext uri="{9D8B030D-6E8A-4147-A177-3AD203B41FA5}">
                      <a16:colId xmlns:a16="http://schemas.microsoft.com/office/drawing/2014/main" val="192856945"/>
                    </a:ext>
                  </a:extLst>
                </a:gridCol>
              </a:tblGrid>
              <a:tr h="734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Authors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Journal Name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Indexed in</a:t>
                      </a:r>
                    </a:p>
                    <a:p>
                      <a:pPr algn="ctr"/>
                      <a:r>
                        <a:rPr lang="en-IN" sz="1400" dirty="0">
                          <a:effectLst/>
                        </a:rPr>
                        <a:t>Scopus/WOS/ABDC(A&amp;B)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Categories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Impact Factor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36910"/>
                  </a:ext>
                </a:extLst>
              </a:tr>
              <a:tr h="551846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Speech translation system for language barrier reduction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Swetha V Patil and N Pradeep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International Research Journal of Engineering and Technology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Scopus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481397"/>
                  </a:ext>
                </a:extLst>
              </a:tr>
              <a:tr h="65577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5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13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NO OF CONFERENCES ATTENDED &amp; PAPERS PUBLISHED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A66B-BB59-1149-B279-74F79BE6E174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2F267E3C-6169-29F9-0634-2F184A559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57550"/>
              </p:ext>
            </p:extLst>
          </p:nvPr>
        </p:nvGraphicFramePr>
        <p:xfrm>
          <a:off x="397398" y="1389940"/>
          <a:ext cx="11331616" cy="183588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896584">
                  <a:extLst>
                    <a:ext uri="{9D8B030D-6E8A-4147-A177-3AD203B41FA5}">
                      <a16:colId xmlns:a16="http://schemas.microsoft.com/office/drawing/2014/main" val="4092125423"/>
                    </a:ext>
                  </a:extLst>
                </a:gridCol>
                <a:gridCol w="8390965">
                  <a:extLst>
                    <a:ext uri="{9D8B030D-6E8A-4147-A177-3AD203B41FA5}">
                      <a16:colId xmlns:a16="http://schemas.microsoft.com/office/drawing/2014/main" val="1868000914"/>
                    </a:ext>
                  </a:extLst>
                </a:gridCol>
                <a:gridCol w="2044067">
                  <a:extLst>
                    <a:ext uri="{9D8B030D-6E8A-4147-A177-3AD203B41FA5}">
                      <a16:colId xmlns:a16="http://schemas.microsoft.com/office/drawing/2014/main" val="616113154"/>
                    </a:ext>
                  </a:extLst>
                </a:gridCol>
              </a:tblGrid>
              <a:tr h="5666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Conference  Name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Conference Dates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36910"/>
                  </a:ext>
                </a:extLst>
              </a:tr>
              <a:tr h="763256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IEEE international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10-01-2021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481397"/>
                  </a:ext>
                </a:extLst>
              </a:tr>
              <a:tr h="505937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59810"/>
                  </a:ext>
                </a:extLst>
              </a:tr>
            </a:tbl>
          </a:graphicData>
        </a:graphic>
      </p:graphicFrame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F123B757-97A1-D2C9-D3F9-12DAAA7EA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41027"/>
              </p:ext>
            </p:extLst>
          </p:nvPr>
        </p:nvGraphicFramePr>
        <p:xfrm>
          <a:off x="397398" y="4041689"/>
          <a:ext cx="11331616" cy="212506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866629">
                  <a:extLst>
                    <a:ext uri="{9D8B030D-6E8A-4147-A177-3AD203B41FA5}">
                      <a16:colId xmlns:a16="http://schemas.microsoft.com/office/drawing/2014/main" val="4092125423"/>
                    </a:ext>
                  </a:extLst>
                </a:gridCol>
                <a:gridCol w="2549514">
                  <a:extLst>
                    <a:ext uri="{9D8B030D-6E8A-4147-A177-3AD203B41FA5}">
                      <a16:colId xmlns:a16="http://schemas.microsoft.com/office/drawing/2014/main" val="3175739715"/>
                    </a:ext>
                  </a:extLst>
                </a:gridCol>
                <a:gridCol w="1721964">
                  <a:extLst>
                    <a:ext uri="{9D8B030D-6E8A-4147-A177-3AD203B41FA5}">
                      <a16:colId xmlns:a16="http://schemas.microsoft.com/office/drawing/2014/main" val="3134540082"/>
                    </a:ext>
                  </a:extLst>
                </a:gridCol>
                <a:gridCol w="2674805">
                  <a:extLst>
                    <a:ext uri="{9D8B030D-6E8A-4147-A177-3AD203B41FA5}">
                      <a16:colId xmlns:a16="http://schemas.microsoft.com/office/drawing/2014/main" val="1868000914"/>
                    </a:ext>
                  </a:extLst>
                </a:gridCol>
                <a:gridCol w="1296365">
                  <a:extLst>
                    <a:ext uri="{9D8B030D-6E8A-4147-A177-3AD203B41FA5}">
                      <a16:colId xmlns:a16="http://schemas.microsoft.com/office/drawing/2014/main" val="3126716983"/>
                    </a:ext>
                  </a:extLst>
                </a:gridCol>
                <a:gridCol w="1020472">
                  <a:extLst>
                    <a:ext uri="{9D8B030D-6E8A-4147-A177-3AD203B41FA5}">
                      <a16:colId xmlns:a16="http://schemas.microsoft.com/office/drawing/2014/main" val="616113154"/>
                    </a:ext>
                  </a:extLst>
                </a:gridCol>
                <a:gridCol w="1201867">
                  <a:extLst>
                    <a:ext uri="{9D8B030D-6E8A-4147-A177-3AD203B41FA5}">
                      <a16:colId xmlns:a16="http://schemas.microsoft.com/office/drawing/2014/main" val="98725567"/>
                    </a:ext>
                  </a:extLst>
                </a:gridCol>
              </a:tblGrid>
              <a:tr h="734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Authors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Conference  Name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Volume  &amp; Page Numbers</a:t>
                      </a:r>
                    </a:p>
                    <a:p>
                      <a:pPr algn="ctr"/>
                      <a:r>
                        <a:rPr lang="en-US" sz="1400" dirty="0"/>
                        <a:t>/ DOI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 of Publication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Indexed in</a:t>
                      </a:r>
                    </a:p>
                    <a:p>
                      <a:pPr algn="ctr"/>
                      <a:r>
                        <a:rPr lang="en-IN" sz="1400" dirty="0">
                          <a:effectLst/>
                        </a:rPr>
                        <a:t>Scopus/WOS/ABDC(A&amp;B)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36910"/>
                  </a:ext>
                </a:extLst>
              </a:tr>
              <a:tr h="734777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Speech translation system for language barrier reduction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Swetha V Patil and N Pradeep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IEEE international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 &amp;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10-01-2021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Scopus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481397"/>
                  </a:ext>
                </a:extLst>
              </a:tr>
              <a:tr h="65577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5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240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AWARDS IF ANY BEST PAPER / POSTER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061-323D-704E-8BC4-D2D27ACD4BCF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B01B6498-7FAD-D350-48D7-8683DA380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346090"/>
              </p:ext>
            </p:extLst>
          </p:nvPr>
        </p:nvGraphicFramePr>
        <p:xfrm>
          <a:off x="561703" y="1825625"/>
          <a:ext cx="10907484" cy="323040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13397">
                  <a:extLst>
                    <a:ext uri="{9D8B030D-6E8A-4147-A177-3AD203B41FA5}">
                      <a16:colId xmlns:a16="http://schemas.microsoft.com/office/drawing/2014/main" val="4092125423"/>
                    </a:ext>
                  </a:extLst>
                </a:gridCol>
                <a:gridCol w="3043896">
                  <a:extLst>
                    <a:ext uri="{9D8B030D-6E8A-4147-A177-3AD203B41FA5}">
                      <a16:colId xmlns:a16="http://schemas.microsoft.com/office/drawing/2014/main" val="3175739715"/>
                    </a:ext>
                  </a:extLst>
                </a:gridCol>
                <a:gridCol w="4177856">
                  <a:extLst>
                    <a:ext uri="{9D8B030D-6E8A-4147-A177-3AD203B41FA5}">
                      <a16:colId xmlns:a16="http://schemas.microsoft.com/office/drawing/2014/main" val="1868000914"/>
                    </a:ext>
                  </a:extLst>
                </a:gridCol>
                <a:gridCol w="2172335">
                  <a:extLst>
                    <a:ext uri="{9D8B030D-6E8A-4147-A177-3AD203B41FA5}">
                      <a16:colId xmlns:a16="http://schemas.microsoft.com/office/drawing/2014/main" val="3126716983"/>
                    </a:ext>
                  </a:extLst>
                </a:gridCol>
              </a:tblGrid>
              <a:tr h="2425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Poster / Paper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Conference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36910"/>
                  </a:ext>
                </a:extLst>
              </a:tr>
              <a:tr h="5851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481397"/>
                  </a:ext>
                </a:extLst>
              </a:tr>
              <a:tr h="58512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970992"/>
                  </a:ext>
                </a:extLst>
              </a:tr>
              <a:tr h="58512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852655"/>
                  </a:ext>
                </a:extLst>
              </a:tr>
              <a:tr h="58512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409441"/>
                  </a:ext>
                </a:extLst>
              </a:tr>
              <a:tr h="58512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025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945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EXTENSION REQUEST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 Font size 22 to 28 and Font Style Calibri(body)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Please enter the required Content or images or tables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AE91-D239-304C-AF8B-2B0CF25EE67B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53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PLAN FOR EXTENDED WORK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Gantt Chart can be created in the below website </a:t>
            </a:r>
            <a:r>
              <a:rPr lang="en-IN" dirty="0">
                <a:hlinkClick r:id="rId2"/>
              </a:rPr>
              <a:t>https://www.onlinegantt.com/#/gantt</a:t>
            </a:r>
            <a:r>
              <a:rPr lang="en-IN" dirty="0"/>
              <a:t> or </a:t>
            </a:r>
            <a:r>
              <a:rPr lang="en-IN" dirty="0">
                <a:hlinkClick r:id="rId3"/>
              </a:rPr>
              <a:t>https://www.gantt.com/</a:t>
            </a:r>
            <a:r>
              <a:rPr lang="en-IN" dirty="0"/>
              <a:t>    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Insert Gantt in image format only.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As per your Research Work prepare the content and years.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Give meaning full content naming or task names.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DDA3E-31BB-5C4D-A1C5-C8EDE6F1E174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17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PLAN FOR EXTENDED WORK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7429-693D-F646-B7A7-EF6B3E7FAAB0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B77772-54C2-354E-6EDF-6760D3250E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9" t="3427" r="1305" b="5444"/>
          <a:stretch/>
        </p:blipFill>
        <p:spPr>
          <a:xfrm>
            <a:off x="1485208" y="1235463"/>
            <a:ext cx="9526174" cy="452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82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E307-1CC0-3047-BC6D-CD3CAC8DA2B2}" type="datetime1">
              <a:rPr lang="en-IN" smtClean="0"/>
              <a:t>10-09-2025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REVIEW EXTENDED SEMESTER  173030211   Depart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2777</Words>
  <Application>Microsoft Office PowerPoint</Application>
  <PresentationFormat>Widescreen</PresentationFormat>
  <Paragraphs>419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Google Sans Text</vt:lpstr>
      <vt:lpstr>Helvetica Neue</vt:lpstr>
      <vt:lpstr>Office Theme</vt:lpstr>
      <vt:lpstr>Custom Design</vt:lpstr>
      <vt:lpstr>8th REVIEW FOR EXTENDED SEMESTER  Design and modelling of different applications</vt:lpstr>
      <vt:lpstr>OUTLINE</vt:lpstr>
      <vt:lpstr>OUTLINE</vt:lpstr>
      <vt:lpstr>COMPLIANCE OF DEPARTMENTAL REVIEW RECOMMENDATIONS</vt:lpstr>
      <vt:lpstr>COMPLIANCE OF DEPARTMENTAL REVIEW RECOMMENDATIONS</vt:lpstr>
      <vt:lpstr>INTRODUCTION</vt:lpstr>
      <vt:lpstr>LITERATURE SURVEY</vt:lpstr>
      <vt:lpstr>RESEARCH GAPS</vt:lpstr>
      <vt:lpstr>HYPOTHESIS</vt:lpstr>
      <vt:lpstr>OBJECTIVES</vt:lpstr>
      <vt:lpstr>OBJECTIVE-1  METHODOLOGY</vt:lpstr>
      <vt:lpstr>OBJECTIVE-1    METHODOLOGY</vt:lpstr>
      <vt:lpstr>OBJECTIVE-1       RESULTS</vt:lpstr>
      <vt:lpstr>OBJECTIVE-1       RESULTS</vt:lpstr>
      <vt:lpstr>OBJECTIVE-2  METHODOLOGY</vt:lpstr>
      <vt:lpstr>OBJECTIVE-2    METHODOLOGY</vt:lpstr>
      <vt:lpstr>OBJECTIVE-2       RESULTS</vt:lpstr>
      <vt:lpstr>OBJECTIVE-2       RESULTS</vt:lpstr>
      <vt:lpstr>OBJECTIVE-3  METHODOLOGY</vt:lpstr>
      <vt:lpstr>OBJECTIVE-3    METHODOLOGY</vt:lpstr>
      <vt:lpstr>OBJECTIVE-3       RESULTS</vt:lpstr>
      <vt:lpstr>OBJECTIVE-3       RESULTS</vt:lpstr>
      <vt:lpstr>ANALYSIS</vt:lpstr>
      <vt:lpstr>ANALYSIS</vt:lpstr>
      <vt:lpstr>CONCLUSION &amp; FUTURE SCOPE</vt:lpstr>
      <vt:lpstr>CONCLUSION &amp; FUTURE SCOPE</vt:lpstr>
      <vt:lpstr>NO OF PUBLICATIONS</vt:lpstr>
      <vt:lpstr>NO OF PUBLICATIONS</vt:lpstr>
      <vt:lpstr>NO OF PUBLICATIONS</vt:lpstr>
      <vt:lpstr>NO OF CONFERENCES ATTENDED &amp; PAPERS PUBLISHED</vt:lpstr>
      <vt:lpstr>AWARDS IF ANY BEST PAPER / POSTER</vt:lpstr>
      <vt:lpstr>EXTENSION REQUEST </vt:lpstr>
      <vt:lpstr>PROPOSED PLAN FOR EXTENDED WORK</vt:lpstr>
      <vt:lpstr>PROPOSED PLAN FOR EXTENDED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Polisetti Bharath</cp:lastModifiedBy>
  <cp:revision>52</cp:revision>
  <dcterms:created xsi:type="dcterms:W3CDTF">2022-05-20T10:20:31Z</dcterms:created>
  <dcterms:modified xsi:type="dcterms:W3CDTF">2025-09-10T04:06:06Z</dcterms:modified>
</cp:coreProperties>
</file>